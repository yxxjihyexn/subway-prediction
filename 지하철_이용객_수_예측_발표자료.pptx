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70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645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이용객 수 </a:t>
            </a:r>
            <a:r>
              <a:rPr lang="en-US" sz="40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</a:t>
            </a: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공공데이터 기반 머신러닝 예측 서비스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126480"/>
            <a:ext cx="1567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 </a:t>
            </a: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</a:t>
            </a: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프로젝트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70596" y="6126480"/>
            <a:ext cx="967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2026.09.14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—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379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4863" y="1808749"/>
            <a:ext cx="8376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41B942D-6527-D0BB-7E58-573139816E00}"/>
              </a:ext>
            </a:extLst>
          </p:cNvPr>
          <p:cNvGrpSpPr/>
          <p:nvPr/>
        </p:nvGrpSpPr>
        <p:grpSpPr>
          <a:xfrm>
            <a:off x="2114864" y="2074879"/>
            <a:ext cx="8640000" cy="174815"/>
            <a:chOff x="822960" y="2093976"/>
            <a:chExt cx="8750806" cy="548640"/>
          </a:xfrm>
        </p:grpSpPr>
        <p:sp>
          <p:nvSpPr>
            <p:cNvPr id="5" name="Text 3"/>
            <p:cNvSpPr/>
            <p:nvPr/>
          </p:nvSpPr>
          <p:spPr>
            <a:xfrm>
              <a:off x="822960" y="2093976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2E8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01</a:t>
              </a:r>
              <a:endParaRPr lang="en-US" sz="2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827276" y="2116836"/>
              <a:ext cx="144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문제 정의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053766" y="2116836"/>
              <a:ext cx="252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왜 지하철 이용객 수를 예측하는가</a:t>
              </a:r>
              <a:endParaRPr lang="en-US" sz="120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2114863" y="2515824"/>
            <a:ext cx="8376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5A3AFBB-7EB1-46CF-A61C-3E2800161BC6}"/>
              </a:ext>
            </a:extLst>
          </p:cNvPr>
          <p:cNvGrpSpPr/>
          <p:nvPr/>
        </p:nvGrpSpPr>
        <p:grpSpPr>
          <a:xfrm>
            <a:off x="2114864" y="2781954"/>
            <a:ext cx="8640000" cy="174815"/>
            <a:chOff x="822960" y="2807208"/>
            <a:chExt cx="8750806" cy="548640"/>
          </a:xfrm>
        </p:grpSpPr>
        <p:sp>
          <p:nvSpPr>
            <p:cNvPr id="9" name="Text 7"/>
            <p:cNvSpPr/>
            <p:nvPr/>
          </p:nvSpPr>
          <p:spPr>
            <a:xfrm>
              <a:off x="822960" y="2807208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2E8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02</a:t>
              </a:r>
              <a:endParaRPr lang="en-US" sz="2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824861" y="2825495"/>
              <a:ext cx="144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053766" y="2825495"/>
              <a:ext cx="252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서울 열린데이터광장 승하차 데이터</a:t>
              </a:r>
              <a:endParaRPr lang="en-US" sz="12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2114863" y="3222899"/>
            <a:ext cx="8376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E387752-E6E1-A305-11F2-77D18A5DBD9E}"/>
              </a:ext>
            </a:extLst>
          </p:cNvPr>
          <p:cNvGrpSpPr/>
          <p:nvPr/>
        </p:nvGrpSpPr>
        <p:grpSpPr>
          <a:xfrm>
            <a:off x="2114864" y="3489029"/>
            <a:ext cx="8640000" cy="174815"/>
            <a:chOff x="822960" y="3520440"/>
            <a:chExt cx="8861857" cy="548640"/>
          </a:xfrm>
        </p:grpSpPr>
        <p:sp>
          <p:nvSpPr>
            <p:cNvPr id="13" name="Text 11"/>
            <p:cNvSpPr/>
            <p:nvPr/>
          </p:nvSpPr>
          <p:spPr>
            <a:xfrm>
              <a:off x="822960" y="3520440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2E8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03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858467" y="3538727"/>
              <a:ext cx="144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머신러닝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164817" y="3538727"/>
              <a:ext cx="252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 err="1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전처리부터</a:t>
              </a: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모델학습</a:t>
              </a: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· </a:t>
              </a:r>
              <a:r>
                <a:rPr lang="en-US" sz="1200" dirty="0" err="1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평가까지</a:t>
              </a:r>
              <a:endParaRPr lang="en-US" sz="12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2114863" y="3929974"/>
            <a:ext cx="8376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074E177-419C-48E0-E9CF-E64BD8581952}"/>
              </a:ext>
            </a:extLst>
          </p:cNvPr>
          <p:cNvGrpSpPr/>
          <p:nvPr/>
        </p:nvGrpSpPr>
        <p:grpSpPr>
          <a:xfrm>
            <a:off x="2114864" y="4196104"/>
            <a:ext cx="8640000" cy="174815"/>
            <a:chOff x="822960" y="4233672"/>
            <a:chExt cx="8861857" cy="548640"/>
          </a:xfrm>
        </p:grpSpPr>
        <p:sp>
          <p:nvSpPr>
            <p:cNvPr id="17" name="Text 15"/>
            <p:cNvSpPr/>
            <p:nvPr/>
          </p:nvSpPr>
          <p:spPr>
            <a:xfrm>
              <a:off x="822960" y="4233672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2E8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04</a:t>
              </a:r>
              <a:endParaRPr lang="en-US" sz="2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858468" y="4251959"/>
              <a:ext cx="144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웹 서비스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164817" y="4251959"/>
              <a:ext cx="252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Figma 설계 → Streamlit 구현</a:t>
              </a:r>
              <a:endParaRPr lang="en-US" sz="12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2114863" y="4637049"/>
            <a:ext cx="8376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52617C-E2AB-3DF6-DF01-58B42C71D2B3}"/>
              </a:ext>
            </a:extLst>
          </p:cNvPr>
          <p:cNvGrpSpPr/>
          <p:nvPr/>
        </p:nvGrpSpPr>
        <p:grpSpPr>
          <a:xfrm>
            <a:off x="2114864" y="4903179"/>
            <a:ext cx="8640000" cy="174815"/>
            <a:chOff x="822960" y="4946904"/>
            <a:chExt cx="8861857" cy="548640"/>
          </a:xfrm>
        </p:grpSpPr>
        <p:sp>
          <p:nvSpPr>
            <p:cNvPr id="21" name="Text 19"/>
            <p:cNvSpPr/>
            <p:nvPr/>
          </p:nvSpPr>
          <p:spPr>
            <a:xfrm>
              <a:off x="822960" y="4946904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2E8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05</a:t>
              </a:r>
              <a:endParaRPr lang="en-US" sz="2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857690" y="4965191"/>
              <a:ext cx="144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데이터베이스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164817" y="4965191"/>
              <a:ext cx="252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MongoDB 예측 기록 저장·조회</a:t>
              </a:r>
              <a:endParaRPr lang="en-US" sz="12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2114863" y="5344124"/>
            <a:ext cx="8376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57D966A-5308-D15D-05A1-436B26AB2181}"/>
              </a:ext>
            </a:extLst>
          </p:cNvPr>
          <p:cNvGrpSpPr/>
          <p:nvPr/>
        </p:nvGrpSpPr>
        <p:grpSpPr>
          <a:xfrm>
            <a:off x="2114864" y="5610254"/>
            <a:ext cx="8640000" cy="174815"/>
            <a:chOff x="822960" y="5660136"/>
            <a:chExt cx="9138022" cy="548640"/>
          </a:xfrm>
        </p:grpSpPr>
        <p:sp>
          <p:nvSpPr>
            <p:cNvPr id="25" name="Text 23"/>
            <p:cNvSpPr/>
            <p:nvPr/>
          </p:nvSpPr>
          <p:spPr>
            <a:xfrm>
              <a:off x="822960" y="5660136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2E8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06</a:t>
              </a:r>
              <a:endParaRPr lang="en-US" sz="2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931586" y="5678423"/>
              <a:ext cx="144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결과 및 회고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440982" y="5678423"/>
              <a:ext cx="252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완성된 서비스와 배운 점</a:t>
              </a:r>
              <a:endParaRPr lang="en-US" sz="12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2114863" y="6051197"/>
            <a:ext cx="8376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3EFBA09-A9CA-161A-1DF7-059DBB8A3081}"/>
              </a:ext>
            </a:extLst>
          </p:cNvPr>
          <p:cNvGrpSpPr/>
          <p:nvPr/>
        </p:nvGrpSpPr>
        <p:grpSpPr>
          <a:xfrm>
            <a:off x="502920" y="1228106"/>
            <a:ext cx="3337560" cy="4401788"/>
            <a:chOff x="502920" y="639794"/>
            <a:chExt cx="3337560" cy="4401788"/>
          </a:xfrm>
        </p:grpSpPr>
        <p:sp>
          <p:nvSpPr>
            <p:cNvPr id="3" name="Text 1"/>
            <p:cNvSpPr/>
            <p:nvPr/>
          </p:nvSpPr>
          <p:spPr>
            <a:xfrm>
              <a:off x="640080" y="639794"/>
              <a:ext cx="3108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01 — PROBLEM</a:t>
              </a:r>
              <a:endParaRPr lang="en-US" sz="12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40080" y="1005554"/>
              <a:ext cx="32004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문제 정의</a:t>
              </a:r>
              <a:endParaRPr lang="en-US" sz="28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40080" y="1737074"/>
              <a:ext cx="457200" cy="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02920" y="3379946"/>
              <a:ext cx="3200400" cy="90601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dirty="0">
                  <a:solidFill>
                    <a:srgbClr val="CBD5E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역·시간대별 지하철 이용객 수를</a:t>
              </a:r>
              <a:endParaRPr lang="en-US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dirty="0">
                  <a:solidFill>
                    <a:srgbClr val="CBD5E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미리 알 수 있다면?</a:t>
              </a: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84835" y="4240530"/>
              <a:ext cx="3036570" cy="8010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200" i="1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“지하철 </a:t>
              </a:r>
              <a:r>
                <a:rPr lang="en-US" sz="1200" i="1" dirty="0" err="1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데이터를</a:t>
              </a:r>
              <a:r>
                <a:rPr lang="en-US" sz="1200" i="1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i="1" dirty="0" err="1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보여주는</a:t>
              </a:r>
              <a:r>
                <a:rPr lang="en-US" sz="1200" dirty="0"/>
                <a:t> </a:t>
              </a:r>
              <a:r>
                <a:rPr lang="en-US" sz="1200" i="1" dirty="0" err="1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웹사이트”가</a:t>
              </a:r>
              <a:r>
                <a:rPr lang="en-US" sz="1200" i="1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아니라</a:t>
              </a:r>
              <a:endParaRPr lang="en-US" sz="1200" dirty="0"/>
            </a:p>
            <a:p>
              <a:pPr marL="0" indent="0">
                <a:lnSpc>
                  <a:spcPct val="140000"/>
                </a:lnSpc>
                <a:buNone/>
              </a:pPr>
              <a:r>
                <a:rPr lang="en-US" sz="1200" i="1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“이용객 </a:t>
              </a:r>
              <a:r>
                <a:rPr lang="en-US" sz="1200" i="1" dirty="0" err="1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수를</a:t>
              </a:r>
              <a:r>
                <a:rPr lang="en-US" sz="1200" i="1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i="1" dirty="0" err="1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머신러닝으로</a:t>
              </a:r>
              <a:r>
                <a:rPr lang="en-US" sz="1200" dirty="0"/>
                <a:t> </a:t>
              </a:r>
              <a:r>
                <a:rPr lang="en-US" sz="1200" i="1" dirty="0" err="1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예측하는</a:t>
              </a:r>
              <a:r>
                <a:rPr lang="en-US" sz="1200" i="1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서비스”</a:t>
              </a:r>
              <a:endParaRPr lang="en-US" sz="12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B326583-1412-6A82-67FA-77690FE544A7}"/>
              </a:ext>
            </a:extLst>
          </p:cNvPr>
          <p:cNvGrpSpPr/>
          <p:nvPr/>
        </p:nvGrpSpPr>
        <p:grpSpPr>
          <a:xfrm>
            <a:off x="5708469" y="1340253"/>
            <a:ext cx="5161695" cy="841248"/>
            <a:chOff x="5029200" y="1188720"/>
            <a:chExt cx="6309360" cy="841248"/>
          </a:xfrm>
        </p:grpSpPr>
        <p:sp>
          <p:nvSpPr>
            <p:cNvPr id="8" name="Text 6"/>
            <p:cNvSpPr/>
            <p:nvPr/>
          </p:nvSpPr>
          <p:spPr>
            <a:xfrm>
              <a:off x="5029200" y="1188720"/>
              <a:ext cx="63093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기반 혼잡도 추정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0" y="1572768"/>
              <a:ext cx="6309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막연한 감이 아니라 특정 역·시간대의 혼잡도를 데이터로 추정</a:t>
              </a:r>
              <a:endParaRPr lang="en-US" sz="12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5708469" y="2594938"/>
            <a:ext cx="516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910B-6286-C383-82E3-EA769327978E}"/>
              </a:ext>
            </a:extLst>
          </p:cNvPr>
          <p:cNvGrpSpPr/>
          <p:nvPr/>
        </p:nvGrpSpPr>
        <p:grpSpPr>
          <a:xfrm>
            <a:off x="5708469" y="3008375"/>
            <a:ext cx="5161695" cy="841248"/>
            <a:chOff x="5029200" y="2423160"/>
            <a:chExt cx="6309360" cy="841248"/>
          </a:xfrm>
        </p:grpSpPr>
        <p:sp>
          <p:nvSpPr>
            <p:cNvPr id="11" name="Text 9"/>
            <p:cNvSpPr/>
            <p:nvPr/>
          </p:nvSpPr>
          <p:spPr>
            <a:xfrm>
              <a:off x="5029200" y="2423160"/>
              <a:ext cx="63093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예측 중심 서비스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029200" y="2807208"/>
              <a:ext cx="6309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단순 통계 조회가 아니라 머신러닝으로 미래 값을 예측하는 서비스가 핵심</a:t>
              </a:r>
              <a:endParaRPr lang="en-US" sz="12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5708469" y="4263060"/>
            <a:ext cx="51616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57756A-30C1-2561-067A-51C00AB7B03A}"/>
              </a:ext>
            </a:extLst>
          </p:cNvPr>
          <p:cNvGrpSpPr/>
          <p:nvPr/>
        </p:nvGrpSpPr>
        <p:grpSpPr>
          <a:xfrm>
            <a:off x="5708469" y="4676498"/>
            <a:ext cx="5161695" cy="841248"/>
            <a:chOff x="5029200" y="3657600"/>
            <a:chExt cx="6309360" cy="841248"/>
          </a:xfrm>
        </p:grpSpPr>
        <p:sp>
          <p:nvSpPr>
            <p:cNvPr id="14" name="Text 12"/>
            <p:cNvSpPr/>
            <p:nvPr/>
          </p:nvSpPr>
          <p:spPr>
            <a:xfrm>
              <a:off x="5029200" y="3657600"/>
              <a:ext cx="63093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설계 → 구현의 일관성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29200" y="4041648"/>
              <a:ext cx="63093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Figma로 화면을 설계하고 Streamlit + MongoDB로 실제 동작까지 구현</a:t>
              </a:r>
              <a:endParaRPr lang="en-US" sz="12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580" y="6598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—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0580" y="1025652"/>
            <a:ext cx="73151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열린데이터광장 · 지하철 시간대별 승하차 인원</a:t>
            </a:r>
            <a:endParaRPr lang="en-US" sz="280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78FA5A6-3A09-600D-223F-C4919EFC76B1}"/>
              </a:ext>
            </a:extLst>
          </p:cNvPr>
          <p:cNvGrpSpPr/>
          <p:nvPr/>
        </p:nvGrpSpPr>
        <p:grpSpPr>
          <a:xfrm>
            <a:off x="1548358" y="2081021"/>
            <a:ext cx="9095284" cy="1234440"/>
            <a:chOff x="1168658" y="2081021"/>
            <a:chExt cx="9095284" cy="123444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24E214-FB1F-D6C0-4518-F5607302F3FD}"/>
                </a:ext>
              </a:extLst>
            </p:cNvPr>
            <p:cNvGrpSpPr/>
            <p:nvPr/>
          </p:nvGrpSpPr>
          <p:grpSpPr>
            <a:xfrm>
              <a:off x="1168658" y="2081021"/>
              <a:ext cx="1659915" cy="1234440"/>
              <a:chOff x="822959" y="1920240"/>
              <a:chExt cx="1659915" cy="1234440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822960" y="1920240"/>
                <a:ext cx="1659914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0F1F3D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83,597</a:t>
                </a:r>
                <a:endParaRPr lang="en-US" sz="2600" dirty="0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822959" y="2697480"/>
                <a:ext cx="1334511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건 · 정제 후 데이터</a:t>
                </a:r>
                <a:endParaRPr lang="en-US" sz="1200" dirty="0"/>
              </a:p>
            </p:txBody>
          </p:sp>
        </p:grpSp>
        <p:sp>
          <p:nvSpPr>
            <p:cNvPr id="6" name="Shape 4"/>
            <p:cNvSpPr/>
            <p:nvPr/>
          </p:nvSpPr>
          <p:spPr>
            <a:xfrm>
              <a:off x="3210513" y="2081021"/>
              <a:ext cx="0" cy="123444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1FAC31-F5C9-331D-BC71-F800C6C2825C}"/>
                </a:ext>
              </a:extLst>
            </p:cNvPr>
            <p:cNvGrpSpPr/>
            <p:nvPr/>
          </p:nvGrpSpPr>
          <p:grpSpPr>
            <a:xfrm>
              <a:off x="3592453" y="2081021"/>
              <a:ext cx="1659914" cy="1234440"/>
              <a:chOff x="3749040" y="1920240"/>
              <a:chExt cx="1659914" cy="1234440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3749040" y="1920240"/>
                <a:ext cx="1659914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0F1F3D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601</a:t>
                </a:r>
                <a:endParaRPr lang="en-US" sz="26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749040" y="2697480"/>
                <a:ext cx="1073111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개 · 지하철역</a:t>
                </a:r>
                <a:endParaRPr lang="en-US" sz="1200" dirty="0"/>
              </a:p>
            </p:txBody>
          </p:sp>
        </p:grpSp>
        <p:sp>
          <p:nvSpPr>
            <p:cNvPr id="9" name="Shape 7"/>
            <p:cNvSpPr/>
            <p:nvPr/>
          </p:nvSpPr>
          <p:spPr>
            <a:xfrm>
              <a:off x="5634307" y="2081021"/>
              <a:ext cx="0" cy="123444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86BBF06E-9C75-564C-DBFE-13425C037F92}"/>
                </a:ext>
              </a:extLst>
            </p:cNvPr>
            <p:cNvGrpSpPr/>
            <p:nvPr/>
          </p:nvGrpSpPr>
          <p:grpSpPr>
            <a:xfrm>
              <a:off x="6016247" y="2081021"/>
              <a:ext cx="1659914" cy="1234440"/>
              <a:chOff x="6355080" y="1920240"/>
              <a:chExt cx="1659914" cy="1234440"/>
            </a:xfrm>
          </p:grpSpPr>
          <p:sp>
            <p:nvSpPr>
              <p:cNvPr id="10" name="Text 8"/>
              <p:cNvSpPr/>
              <p:nvPr/>
            </p:nvSpPr>
            <p:spPr>
              <a:xfrm>
                <a:off x="6355080" y="1920240"/>
                <a:ext cx="1659914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0F1F3D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28</a:t>
                </a:r>
                <a:endParaRPr lang="en-US" sz="26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6355080" y="2697480"/>
                <a:ext cx="726216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개 · 호선</a:t>
                </a:r>
                <a:endParaRPr lang="en-US" sz="1200" dirty="0"/>
              </a:p>
            </p:txBody>
          </p:sp>
        </p:grpSp>
        <p:sp>
          <p:nvSpPr>
            <p:cNvPr id="12" name="Shape 10"/>
            <p:cNvSpPr/>
            <p:nvPr/>
          </p:nvSpPr>
          <p:spPr>
            <a:xfrm>
              <a:off x="8058101" y="2081021"/>
              <a:ext cx="0" cy="123444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50A511BC-CC19-29A7-3806-C415D824E47D}"/>
                </a:ext>
              </a:extLst>
            </p:cNvPr>
            <p:cNvGrpSpPr/>
            <p:nvPr/>
          </p:nvGrpSpPr>
          <p:grpSpPr>
            <a:xfrm>
              <a:off x="8440043" y="2081021"/>
              <a:ext cx="1823899" cy="1234440"/>
              <a:chOff x="8961119" y="1920240"/>
              <a:chExt cx="1823899" cy="1234440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8961120" y="1920240"/>
                <a:ext cx="1659914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0F1F3D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140</a:t>
                </a:r>
                <a:endParaRPr lang="en-US" sz="26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8961119" y="2697480"/>
                <a:ext cx="1823899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개월 · 2015.01~2026.08</a:t>
                </a:r>
                <a:endParaRPr lang="en-US" sz="1200" dirty="0"/>
              </a:p>
            </p:txBody>
          </p:sp>
        </p:grpSp>
      </p:grpSp>
      <p:sp>
        <p:nvSpPr>
          <p:cNvPr id="15" name="Shape 13"/>
          <p:cNvSpPr/>
          <p:nvPr/>
        </p:nvSpPr>
        <p:spPr>
          <a:xfrm>
            <a:off x="845820" y="3723132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508B36B-AACE-08EC-04F1-CCB005958EA4}"/>
              </a:ext>
            </a:extLst>
          </p:cNvPr>
          <p:cNvGrpSpPr/>
          <p:nvPr/>
        </p:nvGrpSpPr>
        <p:grpSpPr>
          <a:xfrm>
            <a:off x="999619" y="4332732"/>
            <a:ext cx="5763519" cy="1865376"/>
            <a:chOff x="822960" y="3794760"/>
            <a:chExt cx="10241280" cy="1865376"/>
          </a:xfrm>
        </p:grpSpPr>
        <p:sp>
          <p:nvSpPr>
            <p:cNvPr id="16" name="Text 14"/>
            <p:cNvSpPr/>
            <p:nvPr/>
          </p:nvSpPr>
          <p:spPr>
            <a:xfrm>
              <a:off x="822960" y="3794760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정제 과정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2960" y="434340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446703" y="4343400"/>
              <a:ext cx="961753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완전 중복 행 1,241건 제거 (84,838 → 83,597건)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22960" y="4818888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446703" y="4818888"/>
              <a:ext cx="961753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시간대별 승하차 컬럼(24개) 확인 및 결측치 없음 검증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22960" y="5294376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</a:t>
              </a:r>
              <a:endParaRPr lang="en-US" sz="13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46703" y="5294376"/>
              <a:ext cx="9617537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wide → long 형태로 변환해 (연도, 월, 호선, 역, 시간대, 승차인원) 구조로 재구성</a:t>
              </a:r>
              <a:endParaRPr lang="en-US" sz="12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1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—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24001" y="1051560"/>
            <a:ext cx="51625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예측 변수(Feature) 확정 과정</a:t>
            </a:r>
            <a:endParaRPr lang="en-US" sz="28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B64E2D1-B216-6B42-A37A-82E055F68AC9}"/>
              </a:ext>
            </a:extLst>
          </p:cNvPr>
          <p:cNvGrpSpPr/>
          <p:nvPr/>
        </p:nvGrpSpPr>
        <p:grpSpPr>
          <a:xfrm>
            <a:off x="1524001" y="2453640"/>
            <a:ext cx="4937760" cy="3154680"/>
            <a:chOff x="822960" y="1783080"/>
            <a:chExt cx="4937760" cy="3154680"/>
          </a:xfrm>
        </p:grpSpPr>
        <p:sp>
          <p:nvSpPr>
            <p:cNvPr id="4" name="Text 2"/>
            <p:cNvSpPr/>
            <p:nvPr/>
          </p:nvSpPr>
          <p:spPr>
            <a:xfrm>
              <a:off x="822960" y="1783080"/>
              <a:ext cx="4572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발견한 문제</a:t>
              </a:r>
              <a:endParaRPr lang="en-US" sz="1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22960" y="2148840"/>
              <a:ext cx="493776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당초 “요일”을 입력 조건에 포함하려 했으나, 원본 데이터가 월 단위로 집계되어 있어 요일 정보 자체가 존재하지 않음을 확인</a:t>
              </a:r>
              <a:endParaRPr lang="en-US" sz="12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822960" y="3291840"/>
              <a:ext cx="493776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822960" y="3474720"/>
              <a:ext cx="4572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대응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22960" y="3840480"/>
              <a:ext cx="493776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20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일별 데이터는 노선이 제한적이고 일정(9/11~9/14) 내 재수집이 비효율적이라 판단 → 요일을 제외하고 5개 변수로 최종 확정</a:t>
              </a:r>
              <a:endParaRPr lang="en-US" sz="12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6827521" y="196596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8DA7241-ED54-20F1-8950-BE84AFFB0201}"/>
              </a:ext>
            </a:extLst>
          </p:cNvPr>
          <p:cNvGrpSpPr/>
          <p:nvPr/>
        </p:nvGrpSpPr>
        <p:grpSpPr>
          <a:xfrm>
            <a:off x="7193281" y="2146935"/>
            <a:ext cx="3474719" cy="3749040"/>
            <a:chOff x="6492240" y="1783080"/>
            <a:chExt cx="4846320" cy="3749040"/>
          </a:xfrm>
        </p:grpSpPr>
        <p:sp>
          <p:nvSpPr>
            <p:cNvPr id="10" name="Text 8"/>
            <p:cNvSpPr/>
            <p:nvPr/>
          </p:nvSpPr>
          <p:spPr>
            <a:xfrm>
              <a:off x="6492240" y="1783080"/>
              <a:ext cx="4846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최종 입력 변수 (Feature)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492240" y="2286000"/>
              <a:ext cx="484632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492240" y="2395728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551017" y="2377440"/>
              <a:ext cx="365038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연도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492240" y="2816352"/>
              <a:ext cx="484632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492240" y="2926080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551017" y="2907792"/>
              <a:ext cx="365038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월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92240" y="3346704"/>
              <a:ext cx="484632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492240" y="3456432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551017" y="3438144"/>
              <a:ext cx="365038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호선명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92240" y="3877056"/>
              <a:ext cx="484632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492240" y="3986784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551017" y="3968496"/>
              <a:ext cx="365038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지하철역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492240" y="4407408"/>
              <a:ext cx="484632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492240" y="4517136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551017" y="4498848"/>
              <a:ext cx="365038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시간대</a:t>
              </a:r>
              <a:endParaRPr lang="en-US" sz="14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492240" y="4937760"/>
              <a:ext cx="484632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492240" y="5166360"/>
              <a:ext cx="48463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타깃(Target): 승차인원</a:t>
              </a:r>
              <a:endParaRPr lang="en-US" sz="10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E323932E-B69D-58D1-96CA-DAC78FF4302F}"/>
              </a:ext>
            </a:extLst>
          </p:cNvPr>
          <p:cNvGrpSpPr/>
          <p:nvPr/>
        </p:nvGrpSpPr>
        <p:grpSpPr>
          <a:xfrm>
            <a:off x="838200" y="681989"/>
            <a:ext cx="10515600" cy="914400"/>
            <a:chOff x="822960" y="681989"/>
            <a:chExt cx="10515600" cy="914400"/>
          </a:xfrm>
        </p:grpSpPr>
        <p:sp>
          <p:nvSpPr>
            <p:cNvPr id="2" name="Text 0"/>
            <p:cNvSpPr/>
            <p:nvPr/>
          </p:nvSpPr>
          <p:spPr>
            <a:xfrm>
              <a:off x="822960" y="681989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03 — MACHINE LEARNING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822960" y="1047749"/>
              <a:ext cx="10515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전처리 → 인코딩 → 모델 학습</a:t>
              </a:r>
              <a:endParaRPr lang="en-US" sz="28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EF42A4E-B98C-65A8-543C-F67FA59F030C}"/>
              </a:ext>
            </a:extLst>
          </p:cNvPr>
          <p:cNvGrpSpPr/>
          <p:nvPr/>
        </p:nvGrpSpPr>
        <p:grpSpPr>
          <a:xfrm>
            <a:off x="838200" y="2331729"/>
            <a:ext cx="10515600" cy="2194555"/>
            <a:chOff x="822960" y="1920240"/>
            <a:chExt cx="10515600" cy="2194555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142C224-A5B2-03A4-0C3E-7BDC0E8003E7}"/>
                </a:ext>
              </a:extLst>
            </p:cNvPr>
            <p:cNvGrpSpPr/>
            <p:nvPr/>
          </p:nvGrpSpPr>
          <p:grpSpPr>
            <a:xfrm>
              <a:off x="822960" y="1920240"/>
              <a:ext cx="3310128" cy="2194555"/>
              <a:chOff x="822960" y="1920240"/>
              <a:chExt cx="3310128" cy="2194555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822960" y="1920240"/>
                <a:ext cx="247269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000" b="1" dirty="0">
                    <a:solidFill>
                      <a:srgbClr val="E2E8F0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01</a:t>
                </a:r>
                <a:endParaRPr lang="en-US" sz="3000" dirty="0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822960" y="2514600"/>
                <a:ext cx="247269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45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희소행렬(Sparse) 인코딩</a:t>
                </a:r>
                <a:endParaRPr lang="en-US" sz="1450" dirty="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822960" y="3154680"/>
                <a:ext cx="3310128" cy="960115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15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호선·역·시간대 원-핫 인코딩 시 653개 컬럼 발생. 밀집 배열은 200만 행 기준 약 9.76GB 메모리 필요 → scipy sparse로 처리</a:t>
                </a:r>
                <a:endParaRPr lang="en-US" sz="1150" dirty="0"/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6F14EAC-5D0B-5318-6027-0A2445565024}"/>
                </a:ext>
              </a:extLst>
            </p:cNvPr>
            <p:cNvGrpSpPr/>
            <p:nvPr/>
          </p:nvGrpSpPr>
          <p:grpSpPr>
            <a:xfrm>
              <a:off x="4425696" y="1920240"/>
              <a:ext cx="3310128" cy="2194555"/>
              <a:chOff x="4425696" y="1920240"/>
              <a:chExt cx="3310128" cy="2194555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4425696" y="1920240"/>
                <a:ext cx="247269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000" b="1" dirty="0">
                    <a:solidFill>
                      <a:srgbClr val="E2E8F0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02</a:t>
                </a:r>
                <a:endParaRPr lang="en-US" sz="30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425696" y="2514600"/>
                <a:ext cx="247269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45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시계열 순서 분할</a:t>
                </a:r>
                <a:endParaRPr lang="en-US" sz="145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4425696" y="3154680"/>
                <a:ext cx="3310128" cy="960115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15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연도·월 기준 정렬 후 80:20으로 학습·테스트를 분할해 미래 시점 예측 성능을 검증</a:t>
                </a:r>
                <a:endParaRPr lang="en-US" sz="1150" dirty="0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F2A1EA4-238A-E68C-663A-3F0F3D1D7A68}"/>
                </a:ext>
              </a:extLst>
            </p:cNvPr>
            <p:cNvGrpSpPr/>
            <p:nvPr/>
          </p:nvGrpSpPr>
          <p:grpSpPr>
            <a:xfrm>
              <a:off x="8028432" y="1920240"/>
              <a:ext cx="3310128" cy="2194555"/>
              <a:chOff x="8028432" y="1920240"/>
              <a:chExt cx="3310128" cy="2194555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8028432" y="1920240"/>
                <a:ext cx="247269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000" b="1" dirty="0">
                    <a:solidFill>
                      <a:srgbClr val="E2E8F0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03</a:t>
                </a:r>
                <a:endParaRPr lang="en-US" sz="3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8028432" y="2514600"/>
                <a:ext cx="247269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45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RandomForestRegressor</a:t>
                </a:r>
                <a:endParaRPr lang="en-US" sz="14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8028432" y="3154680"/>
                <a:ext cx="3310128" cy="960115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15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n_estimators=30, max_depth=15, random_state=42 — 학습 속도와 성능을 함께 고려해 하이퍼파라미터 조정</a:t>
                </a:r>
                <a:endParaRPr lang="en-US" sz="1150" dirty="0"/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911D9AE-B2AC-21E2-0908-F330EDE6A8DF}"/>
              </a:ext>
            </a:extLst>
          </p:cNvPr>
          <p:cNvGrpSpPr/>
          <p:nvPr/>
        </p:nvGrpSpPr>
        <p:grpSpPr>
          <a:xfrm>
            <a:off x="838200" y="5760000"/>
            <a:ext cx="10515600" cy="548640"/>
            <a:chOff x="838200" y="5715001"/>
            <a:chExt cx="10515600" cy="548640"/>
          </a:xfrm>
        </p:grpSpPr>
        <p:sp>
          <p:nvSpPr>
            <p:cNvPr id="15" name="Shape 13"/>
            <p:cNvSpPr/>
            <p:nvPr/>
          </p:nvSpPr>
          <p:spPr>
            <a:xfrm>
              <a:off x="838200" y="5715001"/>
              <a:ext cx="105156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838200" y="5897881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공공데이터 → EDA → 전처리 → 모델 학습 → 평가 → 저장 순으로 진행</a:t>
              </a:r>
              <a:endParaRPr lang="en-US" sz="12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E9C595D7-2F2F-E985-D5FB-3A2468627C9F}"/>
              </a:ext>
            </a:extLst>
          </p:cNvPr>
          <p:cNvGrpSpPr/>
          <p:nvPr/>
        </p:nvGrpSpPr>
        <p:grpSpPr>
          <a:xfrm>
            <a:off x="838800" y="617220"/>
            <a:ext cx="10515600" cy="914400"/>
            <a:chOff x="822960" y="617220"/>
            <a:chExt cx="10515600" cy="914400"/>
          </a:xfrm>
        </p:grpSpPr>
        <p:sp>
          <p:nvSpPr>
            <p:cNvPr id="2" name="Text 0"/>
            <p:cNvSpPr/>
            <p:nvPr/>
          </p:nvSpPr>
          <p:spPr>
            <a:xfrm>
              <a:off x="822960" y="6172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03 — MACHINE LEARNING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822960" y="982980"/>
              <a:ext cx="10515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모델 평가 결과</a:t>
              </a:r>
              <a:endParaRPr lang="en-US" sz="28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45B2623-B0B6-779E-896D-86936EEE2E5E}"/>
              </a:ext>
            </a:extLst>
          </p:cNvPr>
          <p:cNvGrpSpPr/>
          <p:nvPr/>
        </p:nvGrpSpPr>
        <p:grpSpPr>
          <a:xfrm>
            <a:off x="1306830" y="2446020"/>
            <a:ext cx="9578340" cy="1965960"/>
            <a:chOff x="1306830" y="2286000"/>
            <a:chExt cx="9578340" cy="1965960"/>
          </a:xfrm>
        </p:grpSpPr>
        <p:sp>
          <p:nvSpPr>
            <p:cNvPr id="7" name="Shape 5"/>
            <p:cNvSpPr/>
            <p:nvPr/>
          </p:nvSpPr>
          <p:spPr>
            <a:xfrm>
              <a:off x="4290060" y="2352675"/>
              <a:ext cx="0" cy="1800000"/>
            </a:xfrm>
            <a:prstGeom prst="line">
              <a:avLst/>
            </a:prstGeom>
            <a:noFill/>
            <a:ln w="12700">
              <a:solidFill>
                <a:srgbClr val="2A3A5C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7901940" y="2352675"/>
              <a:ext cx="0" cy="1800000"/>
            </a:xfrm>
            <a:prstGeom prst="line">
              <a:avLst/>
            </a:prstGeom>
            <a:noFill/>
            <a:ln w="12700">
              <a:solidFill>
                <a:srgbClr val="2A3A5C"/>
              </a:solidFill>
              <a:prstDash val="solid"/>
            </a:ln>
          </p:spPr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6EBC682C-037E-1666-63A1-E2BC2573754F}"/>
                </a:ext>
              </a:extLst>
            </p:cNvPr>
            <p:cNvGrpSpPr/>
            <p:nvPr/>
          </p:nvGrpSpPr>
          <p:grpSpPr>
            <a:xfrm>
              <a:off x="1306830" y="2286000"/>
              <a:ext cx="2354580" cy="1965960"/>
              <a:chOff x="822960" y="2286000"/>
              <a:chExt cx="2354580" cy="1965960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822960" y="2286000"/>
                <a:ext cx="821055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kern="0" spc="100" dirty="0">
                    <a:solidFill>
                      <a:srgbClr val="5EEAD4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R²</a:t>
                </a:r>
                <a:endParaRPr lang="en-US" sz="1600" dirty="0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822960" y="2697480"/>
                <a:ext cx="19450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4000" b="1" dirty="0">
                    <a:solidFill>
                      <a:srgbClr val="FFFFFF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0.632</a:t>
                </a:r>
                <a:endParaRPr lang="en-US" sz="4000" dirty="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822960" y="3703320"/>
                <a:ext cx="23545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00" dirty="0">
                    <a:solidFill>
                      <a:srgbClr val="94A3B8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전체 변동의 63.2%를 모델이 설명</a:t>
                </a:r>
                <a:endParaRPr lang="en-US" sz="1200" dirty="0"/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3C0D563-B8CA-3AAB-9FDB-5642DDDCCA51}"/>
                </a:ext>
              </a:extLst>
            </p:cNvPr>
            <p:cNvGrpSpPr/>
            <p:nvPr/>
          </p:nvGrpSpPr>
          <p:grpSpPr>
            <a:xfrm>
              <a:off x="4918710" y="2286000"/>
              <a:ext cx="2354580" cy="1965960"/>
              <a:chOff x="4617720" y="2286000"/>
              <a:chExt cx="2354580" cy="1965960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4617720" y="2286000"/>
                <a:ext cx="821055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kern="0" spc="100" dirty="0">
                    <a:solidFill>
                      <a:srgbClr val="5EEAD4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MAE</a:t>
                </a:r>
                <a:endParaRPr lang="en-US" sz="16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617720" y="2697480"/>
                <a:ext cx="19450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4000" b="1" dirty="0">
                    <a:solidFill>
                      <a:srgbClr val="FFFFFF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8,345</a:t>
                </a:r>
                <a:endParaRPr lang="en-US" sz="40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4617720" y="3703320"/>
                <a:ext cx="23545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00" dirty="0">
                    <a:solidFill>
                      <a:srgbClr val="94A3B8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평균 절대 오차 (명)</a:t>
                </a:r>
                <a:endParaRPr lang="en-US" sz="1200" dirty="0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48DD8DC-07E5-E06C-DC9D-5E333E7113E5}"/>
                </a:ext>
              </a:extLst>
            </p:cNvPr>
            <p:cNvGrpSpPr/>
            <p:nvPr/>
          </p:nvGrpSpPr>
          <p:grpSpPr>
            <a:xfrm>
              <a:off x="8530590" y="2286000"/>
              <a:ext cx="2354580" cy="1965960"/>
              <a:chOff x="8046720" y="2286000"/>
              <a:chExt cx="2354580" cy="1965960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8046720" y="2286000"/>
                <a:ext cx="821055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kern="0" spc="100" dirty="0">
                    <a:solidFill>
                      <a:srgbClr val="5EEAD4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RMSE</a:t>
                </a:r>
                <a:endParaRPr lang="en-US" sz="16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8046720" y="2697480"/>
                <a:ext cx="1945004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4000" b="1" dirty="0">
                    <a:solidFill>
                      <a:srgbClr val="FFFFFF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13,581</a:t>
                </a:r>
                <a:endParaRPr lang="en-US" sz="40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8046720" y="3703320"/>
                <a:ext cx="23545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00" dirty="0">
                    <a:solidFill>
                      <a:srgbClr val="94A3B8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평균 제곱근 오차 (명)</a:t>
                </a:r>
                <a:endParaRPr lang="en-US" sz="1200" dirty="0"/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B8A1437-431E-3A32-6D14-A5E348764A95}"/>
              </a:ext>
            </a:extLst>
          </p:cNvPr>
          <p:cNvGrpSpPr/>
          <p:nvPr/>
        </p:nvGrpSpPr>
        <p:grpSpPr>
          <a:xfrm>
            <a:off x="838800" y="5760000"/>
            <a:ext cx="10515600" cy="640080"/>
            <a:chOff x="838800" y="4937760"/>
            <a:chExt cx="10515600" cy="640080"/>
          </a:xfrm>
        </p:grpSpPr>
        <p:sp>
          <p:nvSpPr>
            <p:cNvPr id="15" name="Shape 13"/>
            <p:cNvSpPr/>
            <p:nvPr/>
          </p:nvSpPr>
          <p:spPr>
            <a:xfrm>
              <a:off x="838800" y="4937760"/>
              <a:ext cx="105156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838800" y="5120640"/>
              <a:ext cx="10515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i="1" dirty="0">
                  <a:solidFill>
                    <a:srgbClr val="94A3B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승차인원 데이터가 0명 ~ 448,390명까지 한쪽으로 쏠린 분포라, 값이 큰 러시아워·주요역일수록 예측 오차가 커지는 경향이 있음</a:t>
              </a:r>
              <a:endParaRPr lang="en-US" sz="125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8BC6B26D-35FE-0548-3D33-32F15AA2EA32}"/>
              </a:ext>
            </a:extLst>
          </p:cNvPr>
          <p:cNvGrpSpPr/>
          <p:nvPr/>
        </p:nvGrpSpPr>
        <p:grpSpPr>
          <a:xfrm>
            <a:off x="838200" y="579120"/>
            <a:ext cx="10515600" cy="914400"/>
            <a:chOff x="822960" y="502920"/>
            <a:chExt cx="10515600" cy="914400"/>
          </a:xfrm>
        </p:grpSpPr>
        <p:sp>
          <p:nvSpPr>
            <p:cNvPr id="2" name="Text 0"/>
            <p:cNvSpPr/>
            <p:nvPr/>
          </p:nvSpPr>
          <p:spPr>
            <a:xfrm>
              <a:off x="822960" y="5029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04 — WEB SERVICE — DESIGN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822960" y="868680"/>
              <a:ext cx="10515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Figma 정보구조 &amp; 와이어프레임</a:t>
              </a:r>
              <a:endParaRPr lang="en-US" sz="2800" dirty="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2077CB8-2A78-9E66-34E2-0D579B2C33A6}"/>
              </a:ext>
            </a:extLst>
          </p:cNvPr>
          <p:cNvGrpSpPr/>
          <p:nvPr/>
        </p:nvGrpSpPr>
        <p:grpSpPr>
          <a:xfrm>
            <a:off x="822960" y="2263140"/>
            <a:ext cx="10241280" cy="2331720"/>
            <a:chOff x="822960" y="1737360"/>
            <a:chExt cx="10241280" cy="2331720"/>
          </a:xfrm>
        </p:grpSpPr>
        <p:sp>
          <p:nvSpPr>
            <p:cNvPr id="4" name="Shape 2"/>
            <p:cNvSpPr/>
            <p:nvPr/>
          </p:nvSpPr>
          <p:spPr>
            <a:xfrm>
              <a:off x="822960" y="1737360"/>
              <a:ext cx="3200400" cy="777240"/>
            </a:xfrm>
            <a:prstGeom prst="rect">
              <a:avLst/>
            </a:prstGeom>
            <a:ln w="12700">
              <a:solidFill>
                <a:srgbClr val="0F1F3D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1005840" y="1801368"/>
              <a:ext cx="28346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예측 화면</a:t>
              </a:r>
              <a:endParaRPr lang="en-US" sz="13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210312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입력 + 예측 버튼</a:t>
              </a:r>
              <a:endParaRPr lang="en-US" sz="10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343400" y="1737360"/>
              <a:ext cx="3200400" cy="777240"/>
            </a:xfrm>
            <a:prstGeom prst="rect">
              <a:avLst/>
            </a:prstGeom>
            <a:ln w="12700">
              <a:solidFill>
                <a:srgbClr val="0F1F3D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526280" y="1801368"/>
              <a:ext cx="28346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기록 조회 화면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26280" y="210312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예측 이력 표</a:t>
              </a:r>
              <a:endParaRPr lang="en-US" sz="10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863840" y="1737360"/>
              <a:ext cx="3200400" cy="777240"/>
            </a:xfrm>
            <a:prstGeom prst="rect">
              <a:avLst/>
            </a:prstGeom>
            <a:ln w="12700">
              <a:solidFill>
                <a:srgbClr val="0F1F3D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046720" y="1801368"/>
              <a:ext cx="28346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인사이트 화면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046720" y="210312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통계 그래프</a:t>
              </a: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22960" y="3291840"/>
              <a:ext cx="3200400" cy="777240"/>
            </a:xfrm>
            <a:prstGeom prst="rect">
              <a:avLst/>
            </a:prstGeom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005840" y="3355848"/>
              <a:ext cx="28346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모델 (.pkl)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05840" y="365760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예측 계산</a:t>
              </a:r>
              <a:endParaRPr lang="en-US" sz="10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423160" y="2514600"/>
              <a:ext cx="0" cy="777240"/>
            </a:xfrm>
            <a:prstGeom prst="line">
              <a:avLst/>
            </a:prstGeom>
            <a:noFill/>
            <a:ln w="15875">
              <a:solidFill>
                <a:srgbClr val="0D9488"/>
              </a:solidFill>
              <a:prstDash val="solid"/>
              <a:tailEnd type="triangle"/>
            </a:ln>
          </p:spPr>
        </p:sp>
        <p:sp>
          <p:nvSpPr>
            <p:cNvPr id="17" name="Shape 15"/>
            <p:cNvSpPr/>
            <p:nvPr/>
          </p:nvSpPr>
          <p:spPr>
            <a:xfrm>
              <a:off x="4343400" y="3291840"/>
              <a:ext cx="3200400" cy="777240"/>
            </a:xfrm>
            <a:prstGeom prst="rect">
              <a:avLst/>
            </a:prstGeom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26280" y="3355848"/>
              <a:ext cx="28346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MongoDB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26280" y="365760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저장 + 조회</a:t>
              </a:r>
              <a:endParaRPr lang="en-US" sz="10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943600" y="2514600"/>
              <a:ext cx="0" cy="777240"/>
            </a:xfrm>
            <a:prstGeom prst="line">
              <a:avLst/>
            </a:prstGeom>
            <a:noFill/>
            <a:ln w="15875">
              <a:solidFill>
                <a:srgbClr val="0D9488"/>
              </a:solidFill>
              <a:prstDash val="solid"/>
              <a:tailEnd type="triangle"/>
            </a:ln>
          </p:spPr>
        </p:sp>
        <p:sp>
          <p:nvSpPr>
            <p:cNvPr id="21" name="Shape 19"/>
            <p:cNvSpPr/>
            <p:nvPr/>
          </p:nvSpPr>
          <p:spPr>
            <a:xfrm>
              <a:off x="7863840" y="3291840"/>
              <a:ext cx="3200400" cy="777240"/>
            </a:xfrm>
            <a:prstGeom prst="rect">
              <a:avLst/>
            </a:prstGeom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046720" y="3355848"/>
              <a:ext cx="28346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원본 데이터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046720" y="365760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EDA 그래프</a:t>
              </a:r>
              <a:endParaRPr lang="en-US" sz="10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9464040" y="2514600"/>
              <a:ext cx="0" cy="777240"/>
            </a:xfrm>
            <a:prstGeom prst="line">
              <a:avLst/>
            </a:prstGeom>
            <a:noFill/>
            <a:ln w="15875">
              <a:solidFill>
                <a:srgbClr val="0D9488"/>
              </a:solidFill>
              <a:prstDash val="solid"/>
              <a:tailEnd type="triangle"/>
            </a:ln>
          </p:spPr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948F3A6-7905-0559-B93B-7D4149BE6296}"/>
              </a:ext>
            </a:extLst>
          </p:cNvPr>
          <p:cNvGrpSpPr/>
          <p:nvPr/>
        </p:nvGrpSpPr>
        <p:grpSpPr>
          <a:xfrm>
            <a:off x="838200" y="5112555"/>
            <a:ext cx="10515600" cy="981708"/>
            <a:chOff x="838200" y="4568190"/>
            <a:chExt cx="10515600" cy="981708"/>
          </a:xfrm>
        </p:grpSpPr>
        <p:sp>
          <p:nvSpPr>
            <p:cNvPr id="25" name="Shape 23"/>
            <p:cNvSpPr/>
            <p:nvPr/>
          </p:nvSpPr>
          <p:spPr>
            <a:xfrm>
              <a:off x="838200" y="4568190"/>
              <a:ext cx="105156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4F8D80A3-D1A3-1939-8549-2C9D7FDB289E}"/>
                </a:ext>
              </a:extLst>
            </p:cNvPr>
            <p:cNvGrpSpPr/>
            <p:nvPr/>
          </p:nvGrpSpPr>
          <p:grpSpPr>
            <a:xfrm>
              <a:off x="838200" y="4727957"/>
              <a:ext cx="10208895" cy="821941"/>
              <a:chOff x="822960" y="4573019"/>
              <a:chExt cx="10208895" cy="821941"/>
            </a:xfrm>
          </p:grpSpPr>
          <p:sp>
            <p:nvSpPr>
              <p:cNvPr id="26" name="Text 24"/>
              <p:cNvSpPr/>
              <p:nvPr/>
            </p:nvSpPr>
            <p:spPr>
              <a:xfrm>
                <a:off x="822960" y="4573019"/>
                <a:ext cx="365760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설계 순서</a:t>
                </a:r>
                <a:endParaRPr lang="en-US" sz="1300" dirty="0"/>
              </a:p>
            </p:txBody>
          </p: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24F01DAF-E33B-2655-8539-14367F90FA69}"/>
                  </a:ext>
                </a:extLst>
              </p:cNvPr>
              <p:cNvGrpSpPr/>
              <p:nvPr/>
            </p:nvGrpSpPr>
            <p:grpSpPr>
              <a:xfrm>
                <a:off x="822960" y="5034960"/>
                <a:ext cx="10208895" cy="360000"/>
                <a:chOff x="822960" y="5029200"/>
                <a:chExt cx="10208895" cy="360000"/>
              </a:xfrm>
            </p:grpSpPr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A1CD0E97-DDB1-1E15-75FF-1905324AC6A6}"/>
                    </a:ext>
                  </a:extLst>
                </p:cNvPr>
                <p:cNvGrpSpPr/>
                <p:nvPr/>
              </p:nvGrpSpPr>
              <p:grpSpPr>
                <a:xfrm>
                  <a:off x="822960" y="5029200"/>
                  <a:ext cx="2253615" cy="360000"/>
                  <a:chOff x="822960" y="5029200"/>
                  <a:chExt cx="2253615" cy="360000"/>
                </a:xfrm>
              </p:grpSpPr>
              <p:sp>
                <p:nvSpPr>
                  <p:cNvPr id="27" name="Text 25"/>
                  <p:cNvSpPr/>
                  <p:nvPr/>
                </p:nvSpPr>
                <p:spPr>
                  <a:xfrm>
                    <a:off x="822960" y="5029200"/>
                    <a:ext cx="502920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300" b="1" dirty="0">
                        <a:solidFill>
                          <a:srgbClr val="0D9488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01</a:t>
                    </a:r>
                    <a:endParaRPr lang="en-US" sz="1300" dirty="0"/>
                  </a:p>
                </p:txBody>
              </p:sp>
              <p:sp>
                <p:nvSpPr>
                  <p:cNvPr id="28" name="Text 26"/>
                  <p:cNvSpPr/>
                  <p:nvPr/>
                </p:nvSpPr>
                <p:spPr>
                  <a:xfrm>
                    <a:off x="1325880" y="5029200"/>
                    <a:ext cx="1750695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100" dirty="0">
                        <a:solidFill>
                          <a:srgbClr val="1E293B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정보구조(IA) 설계</a:t>
                    </a:r>
                    <a:endParaRPr lang="en-US" sz="1100" dirty="0"/>
                  </a:p>
                </p:txBody>
              </p:sp>
            </p:grp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24614C24-EC53-CDA3-5B69-3A6438A1A9D1}"/>
                    </a:ext>
                  </a:extLst>
                </p:cNvPr>
                <p:cNvGrpSpPr/>
                <p:nvPr/>
              </p:nvGrpSpPr>
              <p:grpSpPr>
                <a:xfrm>
                  <a:off x="3474720" y="5029200"/>
                  <a:ext cx="2253615" cy="360000"/>
                  <a:chOff x="3474720" y="5029200"/>
                  <a:chExt cx="2253615" cy="360000"/>
                </a:xfrm>
              </p:grpSpPr>
              <p:sp>
                <p:nvSpPr>
                  <p:cNvPr id="29" name="Text 27"/>
                  <p:cNvSpPr/>
                  <p:nvPr/>
                </p:nvSpPr>
                <p:spPr>
                  <a:xfrm>
                    <a:off x="3474720" y="5029200"/>
                    <a:ext cx="502920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300" b="1" dirty="0">
                        <a:solidFill>
                          <a:srgbClr val="0D9488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02</a:t>
                    </a:r>
                    <a:endParaRPr lang="en-US" sz="1300" dirty="0"/>
                  </a:p>
                </p:txBody>
              </p:sp>
              <p:sp>
                <p:nvSpPr>
                  <p:cNvPr id="30" name="Text 28"/>
                  <p:cNvSpPr/>
                  <p:nvPr/>
                </p:nvSpPr>
                <p:spPr>
                  <a:xfrm>
                    <a:off x="3977640" y="5029200"/>
                    <a:ext cx="1750695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100" dirty="0">
                        <a:solidFill>
                          <a:srgbClr val="1E293B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와이어프레임 3개 화면</a:t>
                    </a:r>
                    <a:endParaRPr lang="en-US" sz="1100" dirty="0"/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DB0E0C6C-4707-2DBB-F343-1B1C4601C250}"/>
                    </a:ext>
                  </a:extLst>
                </p:cNvPr>
                <p:cNvGrpSpPr/>
                <p:nvPr/>
              </p:nvGrpSpPr>
              <p:grpSpPr>
                <a:xfrm>
                  <a:off x="6126480" y="5029200"/>
                  <a:ext cx="2253615" cy="360000"/>
                  <a:chOff x="6126480" y="5029200"/>
                  <a:chExt cx="2253615" cy="360000"/>
                </a:xfrm>
              </p:grpSpPr>
              <p:sp>
                <p:nvSpPr>
                  <p:cNvPr id="31" name="Text 29"/>
                  <p:cNvSpPr/>
                  <p:nvPr/>
                </p:nvSpPr>
                <p:spPr>
                  <a:xfrm>
                    <a:off x="6126480" y="5029200"/>
                    <a:ext cx="502920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300" b="1" dirty="0">
                        <a:solidFill>
                          <a:srgbClr val="0D9488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03</a:t>
                    </a:r>
                    <a:endParaRPr lang="en-US" sz="1300" dirty="0"/>
                  </a:p>
                </p:txBody>
              </p:sp>
              <p:sp>
                <p:nvSpPr>
                  <p:cNvPr id="32" name="Text 30"/>
                  <p:cNvSpPr/>
                  <p:nvPr/>
                </p:nvSpPr>
                <p:spPr>
                  <a:xfrm>
                    <a:off x="6629400" y="5029200"/>
                    <a:ext cx="1750695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100" dirty="0">
                        <a:solidFill>
                          <a:srgbClr val="1E293B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빈 상태(Empty State) 추가</a:t>
                    </a:r>
                    <a:endParaRPr lang="en-US" sz="1100" dirty="0"/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2BAF8DB6-ABCD-8ABB-0208-A3959D006C2C}"/>
                    </a:ext>
                  </a:extLst>
                </p:cNvPr>
                <p:cNvGrpSpPr/>
                <p:nvPr/>
              </p:nvGrpSpPr>
              <p:grpSpPr>
                <a:xfrm>
                  <a:off x="8778240" y="5029200"/>
                  <a:ext cx="2253615" cy="360000"/>
                  <a:chOff x="8778240" y="5029200"/>
                  <a:chExt cx="2253615" cy="360000"/>
                </a:xfrm>
              </p:grpSpPr>
              <p:sp>
                <p:nvSpPr>
                  <p:cNvPr id="33" name="Text 31"/>
                  <p:cNvSpPr/>
                  <p:nvPr/>
                </p:nvSpPr>
                <p:spPr>
                  <a:xfrm>
                    <a:off x="8778240" y="5029200"/>
                    <a:ext cx="502920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300" b="1" dirty="0">
                        <a:solidFill>
                          <a:srgbClr val="0D9488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04</a:t>
                    </a:r>
                    <a:endParaRPr lang="en-US" sz="1300" dirty="0"/>
                  </a:p>
                </p:txBody>
              </p:sp>
              <p:sp>
                <p:nvSpPr>
                  <p:cNvPr id="34" name="Text 32"/>
                  <p:cNvSpPr/>
                  <p:nvPr/>
                </p:nvSpPr>
                <p:spPr>
                  <a:xfrm>
                    <a:off x="9281160" y="5029200"/>
                    <a:ext cx="1750695" cy="3600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rtlCol="0" anchor="ctr"/>
                  <a:lstStyle/>
                  <a:p>
                    <a:pPr marL="0" indent="0">
                      <a:buNone/>
                    </a:pPr>
                    <a:r>
                      <a:rPr lang="en-US" sz="1100" dirty="0">
                        <a:solidFill>
                          <a:srgbClr val="1E293B"/>
                        </a:solidFill>
                        <a:latin typeface="Pretendard" pitchFamily="34" charset="0"/>
                        <a:ea typeface="Pretendard" pitchFamily="34" charset="-122"/>
                        <a:cs typeface="Pretendard" pitchFamily="34" charset="-120"/>
                      </a:rPr>
                      <a:t>타이포·색상·간격 정리</a:t>
                    </a:r>
                    <a:endParaRPr lang="en-US" sz="1100" dirty="0"/>
                  </a:p>
                </p:txBody>
              </p:sp>
            </p:grpSp>
          </p:grpSp>
        </p:grpSp>
      </p:grpSp>
      <p:sp>
        <p:nvSpPr>
          <p:cNvPr id="35" name="Text 33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user-data/uploads/prediction.png"/>
          <p:cNvPicPr>
            <a:picLocks noChangeAspect="1"/>
          </p:cNvPicPr>
          <p:nvPr/>
        </p:nvPicPr>
        <p:blipFill rotWithShape="1">
          <a:blip r:embed="rId3"/>
          <a:srcRect l="22577" t="2791" r="22789" b="5502"/>
          <a:stretch/>
        </p:blipFill>
        <p:spPr>
          <a:xfrm>
            <a:off x="7119524" y="342902"/>
            <a:ext cx="4310476" cy="6172195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82921A31-D63B-91FD-FEC9-1A0BB2DA8CA9}"/>
              </a:ext>
            </a:extLst>
          </p:cNvPr>
          <p:cNvGrpSpPr/>
          <p:nvPr/>
        </p:nvGrpSpPr>
        <p:grpSpPr>
          <a:xfrm>
            <a:off x="822960" y="1077659"/>
            <a:ext cx="5394960" cy="4702683"/>
            <a:chOff x="822960" y="207645"/>
            <a:chExt cx="5394960" cy="470268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FC4B046-3DCA-A6D6-02DD-45A0807C781E}"/>
                </a:ext>
              </a:extLst>
            </p:cNvPr>
            <p:cNvGrpSpPr/>
            <p:nvPr/>
          </p:nvGrpSpPr>
          <p:grpSpPr>
            <a:xfrm>
              <a:off x="822960" y="207645"/>
              <a:ext cx="5394960" cy="1143000"/>
              <a:chOff x="822960" y="207645"/>
              <a:chExt cx="5394960" cy="1143000"/>
            </a:xfrm>
          </p:grpSpPr>
          <p:sp>
            <p:nvSpPr>
              <p:cNvPr id="2" name="Text 0"/>
              <p:cNvSpPr/>
              <p:nvPr/>
            </p:nvSpPr>
            <p:spPr>
              <a:xfrm>
                <a:off x="822960" y="207645"/>
                <a:ext cx="26441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kern="0" spc="100" dirty="0">
                    <a:solidFill>
                      <a:srgbClr val="0D9488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04 — WEB SERVICE — BUILD</a:t>
                </a:r>
                <a:endParaRPr lang="en-US" sz="1200" dirty="0"/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822960" y="573405"/>
                <a:ext cx="5394960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280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Streamlit으로 구현한 핵심 기능</a:t>
                </a:r>
                <a:endParaRPr lang="en-US" sz="2800" dirty="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D388C4-436A-AD68-A390-B9661E867713}"/>
                </a:ext>
              </a:extLst>
            </p:cNvPr>
            <p:cNvGrpSpPr/>
            <p:nvPr/>
          </p:nvGrpSpPr>
          <p:grpSpPr>
            <a:xfrm>
              <a:off x="822960" y="2057400"/>
              <a:ext cx="5394960" cy="2852928"/>
              <a:chOff x="822960" y="2057400"/>
              <a:chExt cx="5394960" cy="2852928"/>
            </a:xfrm>
          </p:grpSpPr>
          <p:sp>
            <p:nvSpPr>
              <p:cNvPr id="5" name="Shape 2"/>
              <p:cNvSpPr/>
              <p:nvPr/>
            </p:nvSpPr>
            <p:spPr>
              <a:xfrm>
                <a:off x="822960" y="2057400"/>
                <a:ext cx="5394960" cy="0"/>
              </a:xfrm>
              <a:prstGeom prst="line">
                <a:avLst/>
              </a:prstGeom>
              <a:noFill/>
              <a:ln w="1270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6" name="Text 3"/>
              <p:cNvSpPr/>
              <p:nvPr/>
            </p:nvSpPr>
            <p:spPr>
              <a:xfrm>
                <a:off x="822960" y="2185416"/>
                <a:ext cx="539496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예측하기 · 기록 조회 · 인사이트 3개 탭 구조</a:t>
                </a:r>
                <a:endParaRPr lang="en-US" sz="1300" dirty="0"/>
              </a:p>
            </p:txBody>
          </p:sp>
          <p:sp>
            <p:nvSpPr>
              <p:cNvPr id="7" name="Shape 4"/>
              <p:cNvSpPr/>
              <p:nvPr/>
            </p:nvSpPr>
            <p:spPr>
              <a:xfrm>
                <a:off x="822960" y="2624328"/>
                <a:ext cx="5394960" cy="0"/>
              </a:xfrm>
              <a:prstGeom prst="line">
                <a:avLst/>
              </a:prstGeom>
              <a:noFill/>
              <a:ln w="1270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8" name="Text 5"/>
              <p:cNvSpPr/>
              <p:nvPr/>
            </p:nvSpPr>
            <p:spPr>
              <a:xfrm>
                <a:off x="822960" y="2752344"/>
                <a:ext cx="539496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호선 선택 시 해당 노선의 역만 보이는 종속 드롭다운</a:t>
                </a:r>
                <a:endParaRPr lang="en-US" sz="1300" dirty="0"/>
              </a:p>
            </p:txBody>
          </p:sp>
          <p:sp>
            <p:nvSpPr>
              <p:cNvPr id="9" name="Shape 6"/>
              <p:cNvSpPr/>
              <p:nvPr/>
            </p:nvSpPr>
            <p:spPr>
              <a:xfrm>
                <a:off x="822960" y="3191256"/>
                <a:ext cx="5394960" cy="0"/>
              </a:xfrm>
              <a:prstGeom prst="line">
                <a:avLst/>
              </a:prstGeom>
              <a:noFill/>
              <a:ln w="1270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0" name="Text 7"/>
              <p:cNvSpPr/>
              <p:nvPr/>
            </p:nvSpPr>
            <p:spPr>
              <a:xfrm>
                <a:off x="822960" y="3319272"/>
                <a:ext cx="539496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예측 결과 + 최근 6개월 실제 추이 그래프 함께 제공</a:t>
                </a:r>
                <a:endParaRPr lang="en-US" sz="1300" dirty="0"/>
              </a:p>
            </p:txBody>
          </p:sp>
          <p:sp>
            <p:nvSpPr>
              <p:cNvPr id="11" name="Shape 8"/>
              <p:cNvSpPr/>
              <p:nvPr/>
            </p:nvSpPr>
            <p:spPr>
              <a:xfrm>
                <a:off x="822960" y="3758184"/>
                <a:ext cx="5394960" cy="0"/>
              </a:xfrm>
              <a:prstGeom prst="line">
                <a:avLst/>
              </a:prstGeom>
              <a:noFill/>
              <a:ln w="1270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2" name="Text 9"/>
              <p:cNvSpPr/>
              <p:nvPr/>
            </p:nvSpPr>
            <p:spPr>
              <a:xfrm>
                <a:off x="822960" y="3886200"/>
                <a:ext cx="539496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예측 기록 CSV 다운로드</a:t>
                </a:r>
                <a:endParaRPr lang="en-US" sz="1300" dirty="0"/>
              </a:p>
            </p:txBody>
          </p:sp>
          <p:sp>
            <p:nvSpPr>
              <p:cNvPr id="13" name="Shape 10"/>
              <p:cNvSpPr/>
              <p:nvPr/>
            </p:nvSpPr>
            <p:spPr>
              <a:xfrm>
                <a:off x="822960" y="4325112"/>
                <a:ext cx="5394960" cy="0"/>
              </a:xfrm>
              <a:prstGeom prst="line">
                <a:avLst/>
              </a:prstGeom>
              <a:noFill/>
              <a:ln w="1270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4" name="Text 11"/>
              <p:cNvSpPr/>
              <p:nvPr/>
            </p:nvSpPr>
            <p:spPr>
              <a:xfrm>
                <a:off x="822960" y="4453128"/>
                <a:ext cx="539496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Figma API로 디자인 색상을 코드에서 직접 반영</a:t>
                </a:r>
                <a:endParaRPr lang="en-US" sz="1300" dirty="0"/>
              </a:p>
            </p:txBody>
          </p:sp>
          <p:sp>
            <p:nvSpPr>
              <p:cNvPr id="15" name="Shape 12"/>
              <p:cNvSpPr/>
              <p:nvPr/>
            </p:nvSpPr>
            <p:spPr>
              <a:xfrm>
                <a:off x="822960" y="4892040"/>
                <a:ext cx="5394960" cy="0"/>
              </a:xfrm>
              <a:prstGeom prst="line">
                <a:avLst/>
              </a:prstGeom>
              <a:noFill/>
              <a:ln w="12700">
                <a:solidFill>
                  <a:srgbClr val="E2E8F0"/>
                </a:solidFill>
                <a:prstDash val="solid"/>
              </a:ln>
            </p:spPr>
          </p:sp>
        </p:grpSp>
      </p:grpSp>
      <p:sp>
        <p:nvSpPr>
          <p:cNvPr id="16" name="Text 13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2" name="Text 0"/>
          <p:cNvSpPr/>
          <p:nvPr/>
        </p:nvSpPr>
        <p:spPr>
          <a:xfrm>
            <a:off x="822960" y="505845"/>
            <a:ext cx="161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—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71605"/>
            <a:ext cx="5377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MongoDB — 예측 기록 저장 &amp; 조회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822960" y="5043555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46CADE5-99AB-40E3-ED88-FD034A11DB8D}"/>
              </a:ext>
            </a:extLst>
          </p:cNvPr>
          <p:cNvGrpSpPr/>
          <p:nvPr/>
        </p:nvGrpSpPr>
        <p:grpSpPr>
          <a:xfrm>
            <a:off x="822960" y="5272155"/>
            <a:ext cx="10515600" cy="1080000"/>
            <a:chOff x="822960" y="4754880"/>
            <a:chExt cx="10515600" cy="1080000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9942572-4298-33AC-BCBD-D6B01F3E0482}"/>
                </a:ext>
              </a:extLst>
            </p:cNvPr>
            <p:cNvGrpSpPr/>
            <p:nvPr/>
          </p:nvGrpSpPr>
          <p:grpSpPr>
            <a:xfrm>
              <a:off x="822960" y="4754880"/>
              <a:ext cx="3401568" cy="1080000"/>
              <a:chOff x="822960" y="4754880"/>
              <a:chExt cx="3401568" cy="931538"/>
            </a:xfrm>
          </p:grpSpPr>
          <p:sp>
            <p:nvSpPr>
              <p:cNvPr id="10" name="Text 7"/>
              <p:cNvSpPr/>
              <p:nvPr/>
            </p:nvSpPr>
            <p:spPr>
              <a:xfrm>
                <a:off x="822960" y="4754880"/>
                <a:ext cx="587881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5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저장</a:t>
                </a:r>
                <a:endParaRPr lang="en-US" sz="1450" dirty="0"/>
              </a:p>
            </p:txBody>
          </p:sp>
          <p:sp>
            <p:nvSpPr>
              <p:cNvPr id="11" name="Text 8"/>
              <p:cNvSpPr/>
              <p:nvPr/>
            </p:nvSpPr>
            <p:spPr>
              <a:xfrm>
                <a:off x="822960" y="5138928"/>
                <a:ext cx="3401568" cy="54749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15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예측 버튼을 누를 때마다 입력 조건 + 예측값 + 시각을 insert_one()으로 저장</a:t>
                </a:r>
                <a:endParaRPr lang="en-US" sz="1150" dirty="0"/>
              </a:p>
            </p:txBody>
          </p:sp>
        </p:grpSp>
        <p:sp>
          <p:nvSpPr>
            <p:cNvPr id="12" name="Shape 9"/>
            <p:cNvSpPr/>
            <p:nvPr/>
          </p:nvSpPr>
          <p:spPr>
            <a:xfrm>
              <a:off x="4297680" y="4754880"/>
              <a:ext cx="0" cy="108000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26818F2-BB98-A107-02D3-3BEA9B5B2EC9}"/>
                </a:ext>
              </a:extLst>
            </p:cNvPr>
            <p:cNvGrpSpPr/>
            <p:nvPr/>
          </p:nvGrpSpPr>
          <p:grpSpPr>
            <a:xfrm>
              <a:off x="4379976" y="4754880"/>
              <a:ext cx="3401568" cy="1080000"/>
              <a:chOff x="4379976" y="4754880"/>
              <a:chExt cx="3401568" cy="931538"/>
            </a:xfrm>
          </p:grpSpPr>
          <p:sp>
            <p:nvSpPr>
              <p:cNvPr id="13" name="Text 10"/>
              <p:cNvSpPr/>
              <p:nvPr/>
            </p:nvSpPr>
            <p:spPr>
              <a:xfrm>
                <a:off x="4379976" y="4754880"/>
                <a:ext cx="587881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5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조회</a:t>
                </a:r>
                <a:endParaRPr lang="en-US" sz="145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4379976" y="5138928"/>
                <a:ext cx="3401568" cy="54749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15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예측시각 기준 내림차순 정렬, 최근 20건을 조회해 표로 표시</a:t>
                </a:r>
                <a:endParaRPr lang="en-US" sz="1150" dirty="0"/>
              </a:p>
            </p:txBody>
          </p:sp>
        </p:grpSp>
        <p:sp>
          <p:nvSpPr>
            <p:cNvPr id="15" name="Shape 12"/>
            <p:cNvSpPr/>
            <p:nvPr/>
          </p:nvSpPr>
          <p:spPr>
            <a:xfrm>
              <a:off x="7854696" y="4754880"/>
              <a:ext cx="0" cy="108000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FB7988F-CDC2-5D8E-D0FD-2825FE8757D4}"/>
                </a:ext>
              </a:extLst>
            </p:cNvPr>
            <p:cNvGrpSpPr/>
            <p:nvPr/>
          </p:nvGrpSpPr>
          <p:grpSpPr>
            <a:xfrm>
              <a:off x="7936992" y="4754880"/>
              <a:ext cx="3401568" cy="1080000"/>
              <a:chOff x="7936992" y="4754880"/>
              <a:chExt cx="3401568" cy="931538"/>
            </a:xfrm>
          </p:grpSpPr>
          <p:sp>
            <p:nvSpPr>
              <p:cNvPr id="16" name="Text 13"/>
              <p:cNvSpPr/>
              <p:nvPr/>
            </p:nvSpPr>
            <p:spPr>
              <a:xfrm>
                <a:off x="7936992" y="4754880"/>
                <a:ext cx="587881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50" b="1" dirty="0">
                    <a:solidFill>
                      <a:srgbClr val="1E293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집계</a:t>
                </a:r>
                <a:endParaRPr lang="en-US" sz="1450" dirty="0"/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7936992" y="5138928"/>
                <a:ext cx="3401568" cy="54749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150" dirty="0">
                    <a:solidFill>
                      <a:srgbClr val="64748B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총 예측 횟수 · 평균 예측 인원 · 가장 많이 조회한 역을 화면 상단에 요약</a:t>
                </a:r>
                <a:endParaRPr lang="en-US" sz="1150" dirty="0"/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13FEE8A-A070-32F8-60F8-FC7FF8FED783}"/>
              </a:ext>
            </a:extLst>
          </p:cNvPr>
          <p:cNvGrpSpPr/>
          <p:nvPr/>
        </p:nvGrpSpPr>
        <p:grpSpPr>
          <a:xfrm>
            <a:off x="822960" y="2024130"/>
            <a:ext cx="5120640" cy="2606040"/>
            <a:chOff x="822960" y="1691640"/>
            <a:chExt cx="5120640" cy="2606040"/>
          </a:xfrm>
        </p:grpSpPr>
        <p:sp>
          <p:nvSpPr>
            <p:cNvPr id="4" name="Shape 2"/>
            <p:cNvSpPr/>
            <p:nvPr/>
          </p:nvSpPr>
          <p:spPr>
            <a:xfrm>
              <a:off x="822960" y="1691640"/>
              <a:ext cx="5120640" cy="2606040"/>
            </a:xfrm>
            <a:prstGeom prst="rect">
              <a:avLst/>
            </a:prstGeom>
            <a:solidFill>
              <a:srgbClr val="0F1F3D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097280" y="1874520"/>
              <a:ext cx="4572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predictions 컬렉션 문서 구조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97280" y="2240280"/>
              <a:ext cx="4572000" cy="1920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{ "연도": 2026, "월": 10,</a:t>
              </a:r>
              <a:endParaRPr lang="en-US" sz="12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"호선명": "2호선",</a:t>
              </a:r>
              <a:endParaRPr lang="en-US" sz="12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"지하철역": "신림",</a:t>
              </a:r>
              <a:endParaRPr lang="en-US" sz="12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"시간대": "17시-18시",</a:t>
              </a:r>
              <a:endParaRPr lang="en-US" sz="12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"예측인원": 66869,</a:t>
              </a:r>
              <a:endParaRPr lang="en-US" sz="12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"예측시각": ISODate(...) }</a:t>
              </a:r>
              <a:endParaRPr lang="en-US" sz="12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C0A36FF-C1BA-6ED2-F65F-73BD2B2BED64}"/>
              </a:ext>
            </a:extLst>
          </p:cNvPr>
          <p:cNvGrpSpPr/>
          <p:nvPr/>
        </p:nvGrpSpPr>
        <p:grpSpPr>
          <a:xfrm>
            <a:off x="6490907" y="1851727"/>
            <a:ext cx="4885753" cy="2950846"/>
            <a:chOff x="6490907" y="1371599"/>
            <a:chExt cx="4885753" cy="2950846"/>
          </a:xfrm>
        </p:grpSpPr>
        <p:sp>
          <p:nvSpPr>
            <p:cNvPr id="7" name="Text 5"/>
            <p:cNvSpPr/>
            <p:nvPr/>
          </p:nvSpPr>
          <p:spPr>
            <a:xfrm>
              <a:off x="6490907" y="1371599"/>
              <a:ext cx="229114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MongoDB Compass — 실제 저장 확인</a:t>
              </a:r>
              <a:endParaRPr lang="en-US" sz="1000" dirty="0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88C0FEC8-26C2-4B3E-7D71-A451DC9E4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0340" y="1697355"/>
              <a:ext cx="4846320" cy="26250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039" y="585788"/>
            <a:ext cx="28917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— FINAL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98039" y="951548"/>
            <a:ext cx="28917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서비스 화면</a:t>
            </a:r>
            <a:endParaRPr lang="en-US" sz="28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0F8D068-0C57-BAB0-B72B-EBF34333C1E5}"/>
              </a:ext>
            </a:extLst>
          </p:cNvPr>
          <p:cNvGrpSpPr/>
          <p:nvPr/>
        </p:nvGrpSpPr>
        <p:grpSpPr>
          <a:xfrm>
            <a:off x="2238595" y="1684973"/>
            <a:ext cx="3721441" cy="4587240"/>
            <a:chOff x="2038349" y="1280160"/>
            <a:chExt cx="3721441" cy="4587240"/>
          </a:xfrm>
        </p:grpSpPr>
        <p:pic>
          <p:nvPicPr>
            <p:cNvPr id="4" name="Image 0" descr="/mnt/user-data/uploads/recording.png"/>
            <p:cNvPicPr>
              <a:picLocks noChangeAspect="1"/>
            </p:cNvPicPr>
            <p:nvPr/>
          </p:nvPicPr>
          <p:blipFill rotWithShape="1">
            <a:blip r:embed="rId3"/>
            <a:srcRect l="23735" r="24367" b="8197"/>
            <a:stretch/>
          </p:blipFill>
          <p:spPr>
            <a:xfrm>
              <a:off x="2038349" y="1600200"/>
              <a:ext cx="3721441" cy="4267200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2038349" y="1280160"/>
              <a:ext cx="746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기록 조회</a:t>
              </a:r>
              <a:endParaRPr lang="en-US" sz="1200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6F03E47-DAFD-ED02-03EC-AC017F88E88F}"/>
              </a:ext>
            </a:extLst>
          </p:cNvPr>
          <p:cNvGrpSpPr/>
          <p:nvPr/>
        </p:nvGrpSpPr>
        <p:grpSpPr>
          <a:xfrm>
            <a:off x="6972522" y="1684973"/>
            <a:ext cx="3721440" cy="4587240"/>
            <a:chOff x="6772276" y="1280160"/>
            <a:chExt cx="3721440" cy="4587240"/>
          </a:xfrm>
        </p:grpSpPr>
        <p:pic>
          <p:nvPicPr>
            <p:cNvPr id="6" name="Image 1" descr="/mnt/user-data/uploads/insight.png"/>
            <p:cNvPicPr>
              <a:picLocks noChangeAspect="1"/>
            </p:cNvPicPr>
            <p:nvPr/>
          </p:nvPicPr>
          <p:blipFill rotWithShape="1">
            <a:blip r:embed="rId4"/>
            <a:srcRect l="24070" r="24033" b="8197"/>
            <a:stretch/>
          </p:blipFill>
          <p:spPr>
            <a:xfrm>
              <a:off x="6772276" y="1600200"/>
              <a:ext cx="3721440" cy="426720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772276" y="1280160"/>
              <a:ext cx="746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인사이트</a:t>
              </a:r>
              <a:endParaRPr lang="en-US" sz="1200" dirty="0"/>
            </a:p>
          </p:txBody>
        </p:sp>
      </p:grpSp>
      <p:sp>
        <p:nvSpPr>
          <p:cNvPr id="8" name="Text 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13660"/>
            <a:ext cx="30254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— RESULTS &amp; 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179420"/>
            <a:ext cx="22917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점과 한계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64580" y="2445202"/>
            <a:ext cx="0" cy="3240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9F34853-F6E9-CB50-32B9-EF953537B248}"/>
              </a:ext>
            </a:extLst>
          </p:cNvPr>
          <p:cNvGrpSpPr/>
          <p:nvPr/>
        </p:nvGrpSpPr>
        <p:grpSpPr>
          <a:xfrm>
            <a:off x="822960" y="2625202"/>
            <a:ext cx="5040000" cy="2880000"/>
            <a:chOff x="822960" y="1828800"/>
            <a:chExt cx="5040000" cy="2912318"/>
          </a:xfrm>
        </p:grpSpPr>
        <p:sp>
          <p:nvSpPr>
            <p:cNvPr id="5" name="Text 3"/>
            <p:cNvSpPr/>
            <p:nvPr/>
          </p:nvSpPr>
          <p:spPr>
            <a:xfrm>
              <a:off x="822960" y="1828800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잘 된 점</a:t>
              </a:r>
              <a:endParaRPr lang="en-US" sz="16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822960" y="2450910"/>
              <a:ext cx="46800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822960" y="2707259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정보구조 → 와이어프레임 → 카피 → 비주얼 순으로 설계를 체계적으로 진행</a:t>
              </a: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822960" y="3287841"/>
              <a:ext cx="46800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822960" y="3544190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메모리 문제(희소행렬), 인코더 재사용 등 실전 이슈를 직접 해결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22960" y="4124772"/>
              <a:ext cx="46800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22960" y="4381118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Figma 디자인을 Streamlit 제약 안에서 CSS로 최대한 재현</a:t>
              </a:r>
              <a:endParaRPr lang="en-US" sz="12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E312DB0-6619-F46C-87A6-2D71F65A1F2D}"/>
              </a:ext>
            </a:extLst>
          </p:cNvPr>
          <p:cNvGrpSpPr/>
          <p:nvPr/>
        </p:nvGrpSpPr>
        <p:grpSpPr>
          <a:xfrm>
            <a:off x="6477000" y="2625202"/>
            <a:ext cx="5040000" cy="2880000"/>
            <a:chOff x="6477000" y="2436418"/>
            <a:chExt cx="5040000" cy="2909729"/>
          </a:xfrm>
        </p:grpSpPr>
        <p:sp>
          <p:nvSpPr>
            <p:cNvPr id="12" name="Text 10"/>
            <p:cNvSpPr/>
            <p:nvPr/>
          </p:nvSpPr>
          <p:spPr>
            <a:xfrm>
              <a:off x="6477000" y="2436418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4748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한계 및 향후 개선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77000" y="3045777"/>
              <a:ext cx="46800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477000" y="3289376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5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월 단위 데이터의 한계로 요일별 예측은 제공하지 못함</a:t>
              </a:r>
              <a:endParaRPr lang="en-US" sz="12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477000" y="3894163"/>
              <a:ext cx="46800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477000" y="4137762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5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Streamlit 특성상 완전한 자유 레이아웃 구현에는 제약 존재</a:t>
              </a:r>
              <a:endParaRPr lang="en-US" sz="12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77000" y="4742549"/>
              <a:ext cx="468000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477000" y="4986147"/>
              <a:ext cx="5040000" cy="3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50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일별 데이터 확보 시 요일 변수 추가, React 기반 프론트엔드로 고도화 가능</a:t>
              </a:r>
              <a:endParaRPr lang="en-US" sz="125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F174207-38D8-0894-C14D-C12C7156EB46}"/>
              </a:ext>
            </a:extLst>
          </p:cNvPr>
          <p:cNvGrpSpPr/>
          <p:nvPr/>
        </p:nvGrpSpPr>
        <p:grpSpPr>
          <a:xfrm>
            <a:off x="838200" y="2423160"/>
            <a:ext cx="10515600" cy="2011680"/>
            <a:chOff x="822960" y="2743200"/>
            <a:chExt cx="10515600" cy="2011680"/>
          </a:xfrm>
        </p:grpSpPr>
        <p:sp>
          <p:nvSpPr>
            <p:cNvPr id="2" name="Text 0"/>
            <p:cNvSpPr/>
            <p:nvPr/>
          </p:nvSpPr>
          <p:spPr>
            <a:xfrm>
              <a:off x="822960" y="2743200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kern="0" spc="300" dirty="0">
                  <a:solidFill>
                    <a:srgbClr val="5EEAD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THANK YOU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822960" y="3108960"/>
              <a:ext cx="105156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감사합니다</a:t>
              </a:r>
              <a:endParaRPr lang="en-US" sz="32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5540760" y="4114800"/>
              <a:ext cx="1080000" cy="0"/>
            </a:xfrm>
            <a:prstGeom prst="line">
              <a:avLst/>
            </a:prstGeom>
            <a:noFill/>
            <a:ln w="25400">
              <a:solidFill>
                <a:srgbClr val="0D9488"/>
              </a:solidFill>
              <a:prstDash val="solid"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822960" y="4297680"/>
              <a:ext cx="10515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4A3B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지하철 이용객 수 예측 · 머신러닝 최종 프로젝트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809</Words>
  <Application>Microsoft Office PowerPoint</Application>
  <PresentationFormat>와이드스크린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Pretendard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0</cp:lastModifiedBy>
  <cp:revision>3</cp:revision>
  <dcterms:created xsi:type="dcterms:W3CDTF">2026-09-14T05:10:43Z</dcterms:created>
  <dcterms:modified xsi:type="dcterms:W3CDTF">2026-09-14T06:27:27Z</dcterms:modified>
</cp:coreProperties>
</file>